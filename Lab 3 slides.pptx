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72" r:id="rId5"/>
    <p:sldId id="259" r:id="rId6"/>
    <p:sldId id="269" r:id="rId7"/>
    <p:sldId id="267" r:id="rId8"/>
    <p:sldId id="261" r:id="rId9"/>
    <p:sldId id="275" r:id="rId10"/>
    <p:sldId id="271" r:id="rId11"/>
    <p:sldId id="270" r:id="rId12"/>
    <p:sldId id="273" r:id="rId13"/>
    <p:sldId id="263" r:id="rId14"/>
    <p:sldId id="266" r:id="rId15"/>
    <p:sldId id="264" r:id="rId1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521" autoAdjust="0"/>
  </p:normalViewPr>
  <p:slideViewPr>
    <p:cSldViewPr>
      <p:cViewPr varScale="1">
        <p:scale>
          <a:sx n="72" d="100"/>
          <a:sy n="72" d="100"/>
        </p:scale>
        <p:origin x="-1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A9988DD-7425-4423-AC12-B4A5DDEE07EA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DD097F0-64EC-465F-B966-CE71222A61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</a:t>
            </a:r>
            <a:r>
              <a:rPr lang="en-US" baseline="0" dirty="0" smtClean="0"/>
              <a:t> is the number of sections being drawn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i</a:t>
            </a:r>
            <a:r>
              <a:rPr lang="en-US" baseline="0" dirty="0" smtClean="0"/>
              <a:t>-variable is in the </a:t>
            </a:r>
            <a:r>
              <a:rPr lang="en-US" baseline="0" dirty="0" err="1" smtClean="0"/>
              <a:t>longtitudinal</a:t>
            </a:r>
            <a:r>
              <a:rPr lang="en-US" baseline="0" dirty="0" smtClean="0"/>
              <a:t> direction</a:t>
            </a:r>
          </a:p>
          <a:p>
            <a:r>
              <a:rPr lang="en-US" baseline="0" dirty="0" smtClean="0"/>
              <a:t>J-variable is in the latitudinal direction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</a:t>
            </a:r>
            <a:r>
              <a:rPr lang="en-US" baseline="0" dirty="0" smtClean="0"/>
              <a:t> is the number of sections being drawn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i</a:t>
            </a:r>
            <a:r>
              <a:rPr lang="en-US" baseline="0" dirty="0" smtClean="0"/>
              <a:t>-variable is in the </a:t>
            </a:r>
            <a:r>
              <a:rPr lang="en-US" baseline="0" dirty="0" err="1" smtClean="0"/>
              <a:t>longtitudinal</a:t>
            </a:r>
            <a:r>
              <a:rPr lang="en-US" baseline="0" dirty="0" smtClean="0"/>
              <a:t> direction</a:t>
            </a:r>
          </a:p>
          <a:p>
            <a:r>
              <a:rPr lang="en-US" baseline="0" dirty="0" smtClean="0"/>
              <a:t>J-variable is in the latitudinal direction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97F0-64EC-465F-B966-CE71222A612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2C380C0-8D4B-4F71-8DC4-71FD780E8C5E}" type="datetimeFigureOut">
              <a:rPr lang="en-US" smtClean="0"/>
              <a:pPr/>
              <a:t>3/8/2013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E4F7203-1A3B-416D-B8BA-A89466B569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CS3241 : </a:t>
            </a:r>
            <a:r>
              <a:rPr lang="en-US" dirty="0" smtClean="0"/>
              <a:t>Let There Be Light!!!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#3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Better understanding of flat and smooth shadings</a:t>
            </a:r>
          </a:p>
          <a:p>
            <a:r>
              <a:rPr lang="en-US" dirty="0" smtClean="0"/>
              <a:t>Making fun shapes</a:t>
            </a:r>
          </a:p>
          <a:p>
            <a:r>
              <a:rPr lang="en-US" dirty="0" smtClean="0"/>
              <a:t>Understanding of how light interacts with surface via calculation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114800"/>
            <a:ext cx="391477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Decompose a sphere into small polygons</a:t>
            </a:r>
          </a:p>
          <a:p>
            <a:pPr lvl="1"/>
            <a:r>
              <a:rPr lang="pt-BR" dirty="0" smtClean="0"/>
              <a:t>And each polygon has a few vertices</a:t>
            </a:r>
          </a:p>
          <a:p>
            <a:r>
              <a:rPr lang="pt-BR" dirty="0" smtClean="0"/>
              <a:t>The coordinates of each vertex can be expressed by angle “theta” and “phi”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Draw your sphere</a:t>
            </a:r>
            <a:endParaRPr lang="en-US" dirty="0"/>
          </a:p>
        </p:txBody>
      </p:sp>
      <p:pic>
        <p:nvPicPr>
          <p:cNvPr id="20482" name="Picture 2" descr="Definition of the polar coordinate syste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3276600"/>
            <a:ext cx="3810000" cy="3810001"/>
          </a:xfrm>
          <a:prstGeom prst="rect">
            <a:avLst/>
          </a:prstGeom>
          <a:noFill/>
        </p:spPr>
      </p:pic>
      <p:grpSp>
        <p:nvGrpSpPr>
          <p:cNvPr id="10" name="Group 9"/>
          <p:cNvGrpSpPr/>
          <p:nvPr/>
        </p:nvGrpSpPr>
        <p:grpSpPr>
          <a:xfrm>
            <a:off x="1219200" y="3962400"/>
            <a:ext cx="2667000" cy="2667000"/>
            <a:chOff x="1371600" y="2971800"/>
            <a:chExt cx="2667000" cy="2667000"/>
          </a:xfrm>
        </p:grpSpPr>
        <p:pic>
          <p:nvPicPr>
            <p:cNvPr id="6" name="Picture 5" descr="600px-Sphere_wireframe_10deg_3r_svg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0" y="2971800"/>
              <a:ext cx="2667000" cy="2667000"/>
            </a:xfrm>
            <a:prstGeom prst="rect">
              <a:avLst/>
            </a:prstGeom>
          </p:spPr>
        </p:pic>
        <p:sp>
          <p:nvSpPr>
            <p:cNvPr id="9" name="Freeform 8"/>
            <p:cNvSpPr/>
            <p:nvPr/>
          </p:nvSpPr>
          <p:spPr>
            <a:xfrm>
              <a:off x="2857500" y="3863340"/>
              <a:ext cx="262890" cy="331470"/>
            </a:xfrm>
            <a:custGeom>
              <a:avLst/>
              <a:gdLst>
                <a:gd name="connsiteX0" fmla="*/ 0 w 262890"/>
                <a:gd name="connsiteY0" fmla="*/ 22860 h 331470"/>
                <a:gd name="connsiteX1" fmla="*/ 34290 w 262890"/>
                <a:gd name="connsiteY1" fmla="*/ 331470 h 331470"/>
                <a:gd name="connsiteX2" fmla="*/ 262890 w 262890"/>
                <a:gd name="connsiteY2" fmla="*/ 297180 h 331470"/>
                <a:gd name="connsiteX3" fmla="*/ 205740 w 262890"/>
                <a:gd name="connsiteY3" fmla="*/ 0 h 331470"/>
                <a:gd name="connsiteX4" fmla="*/ 0 w 262890"/>
                <a:gd name="connsiteY4" fmla="*/ 22860 h 3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90" h="331470">
                  <a:moveTo>
                    <a:pt x="0" y="22860"/>
                  </a:moveTo>
                  <a:lnTo>
                    <a:pt x="34290" y="331470"/>
                  </a:lnTo>
                  <a:lnTo>
                    <a:pt x="262890" y="297180"/>
                  </a:lnTo>
                  <a:lnTo>
                    <a:pt x="205740" y="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 to the function</a:t>
            </a:r>
          </a:p>
          <a:p>
            <a:pPr lvl="1"/>
            <a:r>
              <a:rPr lang="en-US" dirty="0" smtClean="0"/>
              <a:t>v</a:t>
            </a:r>
            <a:r>
              <a:rPr lang="en-US" dirty="0" smtClean="0"/>
              <a:t>oid </a:t>
            </a:r>
            <a:r>
              <a:rPr lang="en-US" dirty="0" err="1" smtClean="0"/>
              <a:t>drawSphere</a:t>
            </a:r>
            <a:r>
              <a:rPr lang="en-US" dirty="0" smtClean="0"/>
              <a:t>(double r)</a:t>
            </a:r>
          </a:p>
          <a:p>
            <a:r>
              <a:rPr lang="en-US" dirty="0" smtClean="0"/>
              <a:t>Look into the for-loop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Draw your sphere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376672"/>
          </a:xfrm>
        </p:spPr>
        <p:txBody>
          <a:bodyPr>
            <a:normAutofit fontScale="92500" lnSpcReduction="10000"/>
          </a:bodyPr>
          <a:lstStyle/>
          <a:p>
            <a:r>
              <a:rPr lang="pt-BR" sz="1700" dirty="0" smtClean="0"/>
              <a:t>Variable i is the movement along the latitude</a:t>
            </a:r>
          </a:p>
          <a:p>
            <a:r>
              <a:rPr lang="pt-BR" sz="1700" dirty="0" smtClean="0"/>
              <a:t>Variable j is the movement along the longtitude	</a:t>
            </a:r>
          </a:p>
          <a:p>
            <a:pPr>
              <a:buNone/>
            </a:pPr>
            <a:endParaRPr lang="pt-BR" sz="1800" dirty="0" smtClean="0"/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glVertex3d(r*sin(i*M_PI/n)*cos(j*M_PI/n),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r*cos(i*M_PI/n)*cos(j*M_PI/n),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>
              <a:buNone/>
            </a:pPr>
            <a:endParaRPr lang="pt-BR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glVertex3d(r*sin((i+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)*M_PI/n)*cos(j*M_PI/n),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r*cos((i+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)*M_PI/n)*cos(j*M_PI/n),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>
              <a:buNone/>
            </a:pPr>
            <a:endParaRPr lang="pt-BR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glVertex3d(r*sin((i+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)*M_PI/n)*cos((j+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r*cos((i+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)*M_PI/n)*cos((j+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r*sin((j+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)*M_PI/n));</a:t>
            </a:r>
          </a:p>
          <a:p>
            <a:pPr>
              <a:buNone/>
            </a:pPr>
            <a:endParaRPr lang="pt-BR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glVertex3d(r*sin(i*M_PI/n)*cos((j+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r*cos(i*M_PI/n)*cos((j+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)*M_PI/n),</a:t>
            </a:r>
          </a:p>
          <a:p>
            <a:pPr>
              <a:buNone/>
            </a:pP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          r*sin((j+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)*M_PI/n));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Draw your sphere</a:t>
            </a:r>
            <a:endParaRPr lang="en-US" dirty="0"/>
          </a:p>
        </p:txBody>
      </p:sp>
      <p:pic>
        <p:nvPicPr>
          <p:cNvPr id="4" name="Picture 2" descr="Definition of the polar coordinate syste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381000"/>
            <a:ext cx="3200400" cy="32004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Usually we can following the lecture slides, computing the vertex normal by the polygons</a:t>
            </a:r>
          </a:p>
          <a:p>
            <a:r>
              <a:rPr lang="pt-BR" dirty="0" smtClean="0"/>
              <a:t>However, the sphere is a special case that we can compute the normals in an easier manner</a:t>
            </a:r>
          </a:p>
          <a:p>
            <a:r>
              <a:rPr lang="pt-BR" dirty="0" smtClean="0"/>
              <a:t>The normal vector of a point on a sphere is the unit vector of the point itself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</a:t>
            </a:r>
            <a:r>
              <a:rPr lang="en-US" dirty="0" err="1" smtClean="0"/>
              <a:t>Vectores</a:t>
            </a:r>
            <a:endParaRPr lang="en-US" dirty="0"/>
          </a:p>
        </p:txBody>
      </p:sp>
      <p:pic>
        <p:nvPicPr>
          <p:cNvPr id="20482" name="Picture 2" descr="Definition of the polar coordinate syste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3581400"/>
            <a:ext cx="3810000" cy="3810001"/>
          </a:xfrm>
          <a:prstGeom prst="rect">
            <a:avLst/>
          </a:prstGeom>
          <a:noFill/>
        </p:spPr>
      </p:pic>
      <p:cxnSp>
        <p:nvCxnSpPr>
          <p:cNvPr id="10" name="Straight Arrow Connector 9"/>
          <p:cNvCxnSpPr/>
          <p:nvPr/>
        </p:nvCxnSpPr>
        <p:spPr>
          <a:xfrm flipV="1">
            <a:off x="7772400" y="4343400"/>
            <a:ext cx="1066800" cy="7620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normal of the whole polygon is the coordinate of the center of the polygon for a </a:t>
            </a:r>
            <a:r>
              <a:rPr lang="en-US" dirty="0" smtClean="0"/>
              <a:t>sphere</a:t>
            </a:r>
          </a:p>
          <a:p>
            <a:r>
              <a:rPr lang="en-US" dirty="0" smtClean="0"/>
              <a:t>Use the center of polygon to be the normal</a:t>
            </a:r>
          </a:p>
          <a:p>
            <a:pPr lvl="1">
              <a:buNone/>
            </a:pPr>
            <a:endParaRPr lang="en-US" sz="2400" dirty="0" smtClean="0">
              <a:solidFill>
                <a:schemeClr val="accent2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glNormal3d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(sin(</a:t>
            </a: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(i+0.5)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*M_PI/n)*cos(</a:t>
            </a: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(j+0.5)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cos(</a:t>
            </a: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(i+0.5)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*M_PI/n)*cos(</a:t>
            </a: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(j+0.5)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sin(</a:t>
            </a:r>
            <a:r>
              <a:rPr lang="pt-BR" sz="15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(j+0.5)</a:t>
            </a: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*M_PI/n));</a:t>
            </a:r>
          </a:p>
          <a:p>
            <a:pPr lvl="2">
              <a:buNone/>
            </a:pPr>
            <a:endParaRPr lang="pt-BR" sz="15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glVertex3d(r*sin(i*M_PI/n)*cos(j*M_PI/n),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r*cos(i*M_PI/n)*cos(j*M_PI/n),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 lvl="2">
              <a:buNone/>
            </a:pPr>
            <a:endParaRPr lang="pt-BR" sz="15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glVertex3d(r*sin((i+1)*M_PI/n)*cos(j*M_PI/n),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r*cos((i+1)*M_PI/n)*cos(j*M_PI/n),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 lvl="2">
              <a:buNone/>
            </a:pPr>
            <a:endParaRPr lang="pt-BR" sz="15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glVertex3d(r*sin((i+1)*M_PI/n)*cos((j+1)*M_PI/n),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r*cos((i+1)*M_PI/n)*cos((j+1)*M_PI/n),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r*sin((j+1)*M_PI/n));</a:t>
            </a:r>
          </a:p>
          <a:p>
            <a:pPr lvl="2">
              <a:buNone/>
            </a:pPr>
            <a:endParaRPr lang="pt-BR" sz="15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glVertex3d(r*sin(i*M_PI/n)*cos((j+1)*M_PI/n),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r*cos(i*M_PI/n)*cos((j+1)*M_PI/n),</a:t>
            </a:r>
          </a:p>
          <a:p>
            <a:pPr lvl="2">
              <a:buNone/>
            </a:pPr>
            <a:r>
              <a:rPr lang="pt-BR" sz="1500" dirty="0" smtClean="0">
                <a:latin typeface="Courier New" pitchFamily="49" charset="0"/>
                <a:cs typeface="Courier New" pitchFamily="49" charset="0"/>
              </a:rPr>
              <a:t>           r*sin((j+1)*M_PI/n));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</a:t>
            </a:r>
            <a:r>
              <a:rPr lang="en-US" u="sng" dirty="0" smtClean="0">
                <a:solidFill>
                  <a:srgbClr val="FF0000"/>
                </a:solidFill>
              </a:rPr>
              <a:t>Flat</a:t>
            </a:r>
            <a:r>
              <a:rPr lang="en-US" dirty="0" smtClean="0"/>
              <a:t> shading</a:t>
            </a:r>
            <a:endParaRPr lang="en-US" dirty="0"/>
          </a:p>
        </p:txBody>
      </p:sp>
      <p:grpSp>
        <p:nvGrpSpPr>
          <p:cNvPr id="4" name="Group 9"/>
          <p:cNvGrpSpPr/>
          <p:nvPr/>
        </p:nvGrpSpPr>
        <p:grpSpPr>
          <a:xfrm>
            <a:off x="5867400" y="3581400"/>
            <a:ext cx="2667000" cy="2667000"/>
            <a:chOff x="1371600" y="2971800"/>
            <a:chExt cx="2667000" cy="2667000"/>
          </a:xfrm>
        </p:grpSpPr>
        <p:pic>
          <p:nvPicPr>
            <p:cNvPr id="5" name="Picture 4" descr="600px-Sphere_wireframe_10deg_3r_svg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971800"/>
              <a:ext cx="2667000" cy="2667000"/>
            </a:xfrm>
            <a:prstGeom prst="rect">
              <a:avLst/>
            </a:prstGeom>
          </p:spPr>
        </p:pic>
        <p:sp>
          <p:nvSpPr>
            <p:cNvPr id="6" name="Freeform 5"/>
            <p:cNvSpPr/>
            <p:nvPr/>
          </p:nvSpPr>
          <p:spPr>
            <a:xfrm>
              <a:off x="2857500" y="3863340"/>
              <a:ext cx="262890" cy="331470"/>
            </a:xfrm>
            <a:custGeom>
              <a:avLst/>
              <a:gdLst>
                <a:gd name="connsiteX0" fmla="*/ 0 w 262890"/>
                <a:gd name="connsiteY0" fmla="*/ 22860 h 331470"/>
                <a:gd name="connsiteX1" fmla="*/ 34290 w 262890"/>
                <a:gd name="connsiteY1" fmla="*/ 331470 h 331470"/>
                <a:gd name="connsiteX2" fmla="*/ 262890 w 262890"/>
                <a:gd name="connsiteY2" fmla="*/ 297180 h 331470"/>
                <a:gd name="connsiteX3" fmla="*/ 205740 w 262890"/>
                <a:gd name="connsiteY3" fmla="*/ 0 h 331470"/>
                <a:gd name="connsiteX4" fmla="*/ 0 w 262890"/>
                <a:gd name="connsiteY4" fmla="*/ 22860 h 3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90" h="331470">
                  <a:moveTo>
                    <a:pt x="0" y="22860"/>
                  </a:moveTo>
                  <a:lnTo>
                    <a:pt x="34290" y="331470"/>
                  </a:lnTo>
                  <a:lnTo>
                    <a:pt x="262890" y="297180"/>
                  </a:lnTo>
                  <a:lnTo>
                    <a:pt x="205740" y="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/>
          <p:cNvCxnSpPr/>
          <p:nvPr/>
        </p:nvCxnSpPr>
        <p:spPr>
          <a:xfrm flipV="1">
            <a:off x="7467600" y="3886200"/>
            <a:ext cx="1066800" cy="7620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</a:t>
            </a:r>
            <a:r>
              <a:rPr lang="en-US" u="sng" dirty="0" smtClean="0">
                <a:solidFill>
                  <a:srgbClr val="FF0000"/>
                </a:solidFill>
              </a:rPr>
              <a:t>Smooth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81000" y="2209800"/>
            <a:ext cx="4572000" cy="44993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1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glNormal3d</a:t>
            </a: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(sin(i*M_PI/n)*cos(j*M_PI/n),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cos(i*M_PI/n)*cos(j*M_PI/n),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sin(j*M_PI/n));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glVertex3d(r*sin(i*M_PI/n)*cos(j*M_PI/n),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r*cos(i*M_PI/n)*cos(j*M_PI/n),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>
              <a:buNone/>
            </a:pPr>
            <a:endParaRPr lang="pt-BR" sz="11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glNormal3d</a:t>
            </a: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(sin((i+1)*M_PI/n)*cos(j*M_PI/n),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cos((i+1)*M_PI/n)*cos(j*M_PI/n),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sin(j*M_PI/n));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glVertex3d(r*sin((i+1)*M_PI/n)*cos(j*M_PI/n),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r*cos((i+1)*M_PI/n)*cos(j*M_PI/n),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r*sin(j*M_PI/n));</a:t>
            </a:r>
          </a:p>
          <a:p>
            <a:pPr>
              <a:buNone/>
            </a:pPr>
            <a:endParaRPr lang="pt-BR" sz="11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sz="110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572000" y="1676400"/>
            <a:ext cx="4800601" cy="3941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glNormal3d</a:t>
            </a: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(sin((i+1)*M_PI/n)*cos((j+1)*M_PI/n),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cos((i+1)*M_PI/n)*cos((j+1)*M_PI/n),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sin((j+1)*M_PI/n));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glVertex3d(r*sin((i+1)*M_PI/n)*cos((j+1)*M_PI/n),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r*cos((i+1)*M_PI/n)*cos((j+1)*M_PI/n),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r*sin((j+1)*M_PI/n));</a:t>
            </a:r>
          </a:p>
          <a:p>
            <a:pPr>
              <a:buNone/>
            </a:pPr>
            <a:endParaRPr lang="pt-BR" sz="11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glNormal3d</a:t>
            </a: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(sin(i*M_PI/n)*cos((j+1)*M_PI/n),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cos(i*M_PI/n)*cos((j+1)*M_PI/n),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sin((j+1)*M_PI/n));</a:t>
            </a:r>
            <a:endParaRPr lang="en-US" sz="11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glVertex3d(r*sin(i*M_PI/n)*cos((j+1)*M_PI/n),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r*cos(i*M_PI/n)*cos((j+1)*M_PI/n),</a:t>
            </a:r>
          </a:p>
          <a:p>
            <a:pPr>
              <a:buNone/>
            </a:pPr>
            <a:r>
              <a:rPr lang="pt-BR" sz="1100" dirty="0" smtClean="0">
                <a:latin typeface="Courier New" pitchFamily="49" charset="0"/>
                <a:cs typeface="Courier New" pitchFamily="49" charset="0"/>
              </a:rPr>
              <a:t>           r*sin((j+1)*M_PI/n));</a:t>
            </a:r>
            <a:endParaRPr lang="en-US" sz="11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100" dirty="0" smtClean="0"/>
          </a:p>
          <a:p>
            <a:endParaRPr lang="en-US" sz="1100" dirty="0"/>
          </a:p>
        </p:txBody>
      </p:sp>
      <p:grpSp>
        <p:nvGrpSpPr>
          <p:cNvPr id="11" name="Group 9"/>
          <p:cNvGrpSpPr/>
          <p:nvPr/>
        </p:nvGrpSpPr>
        <p:grpSpPr>
          <a:xfrm>
            <a:off x="5867400" y="4191000"/>
            <a:ext cx="2667000" cy="2667000"/>
            <a:chOff x="1371600" y="2971800"/>
            <a:chExt cx="2667000" cy="2667000"/>
          </a:xfrm>
        </p:grpSpPr>
        <p:pic>
          <p:nvPicPr>
            <p:cNvPr id="12" name="Picture 11" descr="600px-Sphere_wireframe_10deg_3r_svg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971800"/>
              <a:ext cx="2667000" cy="2667000"/>
            </a:xfrm>
            <a:prstGeom prst="rect">
              <a:avLst/>
            </a:prstGeom>
          </p:spPr>
        </p:pic>
        <p:sp>
          <p:nvSpPr>
            <p:cNvPr id="13" name="Freeform 12"/>
            <p:cNvSpPr/>
            <p:nvPr/>
          </p:nvSpPr>
          <p:spPr>
            <a:xfrm>
              <a:off x="2857500" y="3863340"/>
              <a:ext cx="262890" cy="331470"/>
            </a:xfrm>
            <a:custGeom>
              <a:avLst/>
              <a:gdLst>
                <a:gd name="connsiteX0" fmla="*/ 0 w 262890"/>
                <a:gd name="connsiteY0" fmla="*/ 22860 h 331470"/>
                <a:gd name="connsiteX1" fmla="*/ 34290 w 262890"/>
                <a:gd name="connsiteY1" fmla="*/ 331470 h 331470"/>
                <a:gd name="connsiteX2" fmla="*/ 262890 w 262890"/>
                <a:gd name="connsiteY2" fmla="*/ 297180 h 331470"/>
                <a:gd name="connsiteX3" fmla="*/ 205740 w 262890"/>
                <a:gd name="connsiteY3" fmla="*/ 0 h 331470"/>
                <a:gd name="connsiteX4" fmla="*/ 0 w 262890"/>
                <a:gd name="connsiteY4" fmla="*/ 22860 h 3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90" h="331470">
                  <a:moveTo>
                    <a:pt x="0" y="22860"/>
                  </a:moveTo>
                  <a:lnTo>
                    <a:pt x="34290" y="331470"/>
                  </a:lnTo>
                  <a:lnTo>
                    <a:pt x="262890" y="297180"/>
                  </a:lnTo>
                  <a:lnTo>
                    <a:pt x="205740" y="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 flipV="1">
            <a:off x="7543800" y="4343400"/>
            <a:ext cx="1066800" cy="7620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620000" y="5334000"/>
            <a:ext cx="1295400" cy="76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315200" y="4114800"/>
            <a:ext cx="762000" cy="9906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391400" y="4800600"/>
            <a:ext cx="1143000" cy="6096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12954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Set different normal vectors for different vertices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25146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Let’s try it all together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Lighting and Material Properties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In the function </a:t>
            </a:r>
            <a:r>
              <a:rPr lang="en-US" dirty="0" smtClean="0"/>
              <a:t>“</a:t>
            </a:r>
            <a:r>
              <a:rPr lang="en-US" dirty="0" err="1" smtClean="0"/>
              <a:t>setupLighting</a:t>
            </a:r>
            <a:r>
              <a:rPr lang="en-US" dirty="0" smtClean="0"/>
              <a:t>”, </a:t>
            </a:r>
            <a:r>
              <a:rPr lang="en-US" dirty="0" smtClean="0"/>
              <a:t>we already set up the basic lightings and material properties for you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glShadeModel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(GL_SMOOTH);</a:t>
            </a:r>
          </a:p>
          <a:p>
            <a:pPr lvl="1"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// Lights, material properties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GLfloat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ambientProperties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  = {0.7f, 0.7f, 0.7f, 1.0f};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GLfloat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diffuseProperties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  = {0.8f, 0.8f, 0.8f, 1.0f};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GLfloat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specularProperties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 = {1.0f, 1.0f, 1.0f, 1.0f};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GLfloat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lightPosition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 = {-100.0f,100.0f,100.0f,1.0f};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lvl="1"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glLightfv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GL_LIGHT0, GL_POSITION,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lightPosition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glLightfv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GL_LIGHT0, GL_AMBIENT,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ambientProperties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glLightfv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GL_LIGHT0, GL_DIFFUSE,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diffuseProperties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glLightfv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GL_LIGHT0, GL_SPECULAR,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specularProperties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glLightModelf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(GL_LIGHT_MODEL_TWO_SIDE, 0.0);</a:t>
            </a:r>
          </a:p>
          <a:p>
            <a:pPr lvl="1"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// Default : lighting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glEnable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(GL_LIGHT0);</a:t>
            </a:r>
          </a:p>
          <a:p>
            <a:pPr lvl="1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glEnable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(GL_LIGHTING);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05400" y="2667000"/>
            <a:ext cx="32004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91200" y="1752600"/>
            <a:ext cx="3200400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/>
              <a:t>in the lecture notes (the last entry is “alpha” for transparency)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620000" y="3657600"/>
            <a:ext cx="3048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24800" y="3886200"/>
            <a:ext cx="99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1.0 for NOT at infinity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12" idx="1"/>
          </p:cNvCxnSpPr>
          <p:nvPr/>
        </p:nvCxnSpPr>
        <p:spPr>
          <a:xfrm flipH="1" flipV="1">
            <a:off x="3276600" y="5181600"/>
            <a:ext cx="1981200" cy="7041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57800" y="556260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set more then 1 light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7" idx="1"/>
          </p:cNvCxnSpPr>
          <p:nvPr/>
        </p:nvCxnSpPr>
        <p:spPr>
          <a:xfrm flipH="1" flipV="1">
            <a:off x="3581400" y="6324600"/>
            <a:ext cx="1066800" cy="210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2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Lighting not in effect if you don’t enable 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Changing Material Properties for </a:t>
            </a:r>
            <a:r>
              <a:rPr lang="en-US" u="sng" dirty="0" smtClean="0">
                <a:solidFill>
                  <a:srgbClr val="FF0000"/>
                </a:solidFill>
              </a:rPr>
              <a:t>EACH OBJECT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05600" y="3581400"/>
            <a:ext cx="2165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Set up the colors for different properties (ambient, diffuse, </a:t>
            </a:r>
            <a:r>
              <a:rPr lang="en-US" dirty="0" err="1" smtClean="0"/>
              <a:t>specular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 flipV="1">
            <a:off x="4648200" y="3276600"/>
            <a:ext cx="2057400" cy="10434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Try looking into the function </a:t>
            </a:r>
            <a:r>
              <a:rPr lang="en-US" dirty="0" err="1" smtClean="0"/>
              <a:t>drawSphere</a:t>
            </a:r>
            <a:r>
              <a:rPr lang="en-US" dirty="0" smtClean="0"/>
              <a:t> again</a:t>
            </a:r>
            <a:endParaRPr lang="en-US" dirty="0"/>
          </a:p>
        </p:txBody>
      </p:sp>
      <p:sp>
        <p:nvSpPr>
          <p:cNvPr id="8" name="Content Placeholder 1"/>
          <p:cNvSpPr txBox="1">
            <a:spLocks/>
          </p:cNvSpPr>
          <p:nvPr/>
        </p:nvSpPr>
        <p:spPr>
          <a:xfrm>
            <a:off x="609600" y="251460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float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mat_ambient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[] </a:t>
            </a:r>
            <a:r>
              <a:rPr lang="fr-FR" sz="1600" dirty="0" smtClean="0">
                <a:latin typeface="Courier New" pitchFamily="49" charset="0"/>
                <a:cs typeface="Courier New" pitchFamily="49" charset="0"/>
              </a:rPr>
              <a:t>= {0.8f, 0.8f, 0.2f, </a:t>
            </a:r>
            <a:r>
              <a:rPr lang="fr-FR" sz="1600" dirty="0" smtClean="0">
                <a:latin typeface="Courier New" pitchFamily="49" charset="0"/>
                <a:cs typeface="Courier New" pitchFamily="49" charset="0"/>
              </a:rPr>
              <a:t>1.0f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};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float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mat_diffuse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[] = {0.1f, 0.5f, 0.8f, 1.0f};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glMaterialfv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(GL_FRONT, GL_AMBIENT,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mat_ambient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glMaterialfv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(GL_FRONT, GL_DIFFUSE,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mat_diffuse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9200" y="5029200"/>
            <a:ext cx="25146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Let’s try </a:t>
            </a:r>
            <a:r>
              <a:rPr lang="en-US" dirty="0" smtClean="0"/>
              <a:t>to change the ball into red color?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Draw more fun shapes! Torus, Hearts, cylinders, cones, etc.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4 : Create another shape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276600"/>
            <a:ext cx="25527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smooth_shadin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0" y="3276600"/>
            <a:ext cx="3495675" cy="249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Compose your primitive objects to form unique shapes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5 : Composite Objects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971800"/>
            <a:ext cx="2241031" cy="1981200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3048000"/>
            <a:ext cx="2567978" cy="2286000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3429000"/>
            <a:ext cx="2023960" cy="1981200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lc="http://schemas.openxmlformats.org/drawingml/2006/lockedCanvas" xmlns:a14="http://schemas.microsoft.com/office/drawing/2010/main" xmlns:xdr="http://schemas.openxmlformats.org/drawingml/2006/spreadsheetDrawing" xmlns="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810000"/>
            <a:ext cx="1810340" cy="1893796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:xdr="http://schemas.openxmlformats.org/drawingml/2006/spreadsheetDrawing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32381" t="33524" r="33810" b="25333"/>
          <a:stretch>
            <a:fillRect/>
          </a:stretch>
        </p:blipFill>
        <p:spPr bwMode="auto">
          <a:xfrm>
            <a:off x="5638800" y="4419600"/>
            <a:ext cx="3505200" cy="2665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Avoid using square roots or power functions if there are other ways to calculate. </a:t>
            </a:r>
          </a:p>
          <a:p>
            <a:pPr lvl="1"/>
            <a:r>
              <a:rPr lang="en-US" dirty="0" smtClean="0"/>
              <a:t>These functions are really expensive and will slow down your graphic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/>
              <a:t>you really have troubles with bad lighting, write a function to draw out your normal vectors for debugging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small tips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400"/>
            <a:ext cx="8229600" cy="6397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Try to avoid these, check your normal calculations and see whether they’re facing inwards or outwards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 of bad/half-lit shading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599" y="1600200"/>
            <a:ext cx="402977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600200"/>
            <a:ext cx="371940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1612</TotalTime>
  <Words>811</Words>
  <Application>Microsoft Office PowerPoint</Application>
  <PresentationFormat>On-screen Show (4:3)</PresentationFormat>
  <Paragraphs>159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CS3241 : Let There Be Light!!!</vt:lpstr>
      <vt:lpstr>Goals</vt:lpstr>
      <vt:lpstr>Step 1: Draw your sphere</vt:lpstr>
      <vt:lpstr>Step 1: Draw your sphere</vt:lpstr>
      <vt:lpstr>Step 1: Draw your sphere</vt:lpstr>
      <vt:lpstr>The Normal Vectores</vt:lpstr>
      <vt:lpstr>Step 2: Flat shading</vt:lpstr>
      <vt:lpstr>Step 3: Smooth Shading</vt:lpstr>
      <vt:lpstr>Changing Lighting and Material Properties</vt:lpstr>
      <vt:lpstr>Lighting</vt:lpstr>
      <vt:lpstr>Changing Material Properties for EACH OBJECT</vt:lpstr>
      <vt:lpstr>Step 4 : Create another shape</vt:lpstr>
      <vt:lpstr>Step 5 : Composite Objects</vt:lpstr>
      <vt:lpstr>Some small tips</vt:lpstr>
      <vt:lpstr>Examples of bad/half-lit shading</vt:lpstr>
    </vt:vector>
  </TitlesOfParts>
  <Company>National University of Singapore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CS3241 : Illumination and Shading</dc:title>
  <dc:creator>u0707143</dc:creator>
  <cp:lastModifiedBy>dcschl</cp:lastModifiedBy>
  <cp:revision>109</cp:revision>
  <dcterms:created xsi:type="dcterms:W3CDTF">2011-03-04T01:27:29Z</dcterms:created>
  <dcterms:modified xsi:type="dcterms:W3CDTF">2013-03-08T07:50:47Z</dcterms:modified>
</cp:coreProperties>
</file>